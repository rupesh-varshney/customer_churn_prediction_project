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0" r:id="rId1"/>
  </p:sldMasterIdLst>
  <p:sldIdLst>
    <p:sldId id="256" r:id="rId2"/>
    <p:sldId id="257" r:id="rId3"/>
    <p:sldId id="262" r:id="rId4"/>
    <p:sldId id="258" r:id="rId5"/>
    <p:sldId id="261" r:id="rId6"/>
    <p:sldId id="264" r:id="rId7"/>
    <p:sldId id="268" r:id="rId8"/>
    <p:sldId id="276" r:id="rId9"/>
    <p:sldId id="281" r:id="rId10"/>
    <p:sldId id="280" r:id="rId11"/>
    <p:sldId id="279" r:id="rId12"/>
    <p:sldId id="278" r:id="rId13"/>
    <p:sldId id="277" r:id="rId14"/>
    <p:sldId id="282" r:id="rId15"/>
    <p:sldId id="283" r:id="rId16"/>
    <p:sldId id="269" r:id="rId17"/>
    <p:sldId id="285" r:id="rId18"/>
    <p:sldId id="287" r:id="rId19"/>
    <p:sldId id="288" r:id="rId20"/>
    <p:sldId id="290" r:id="rId21"/>
    <p:sldId id="289" r:id="rId22"/>
    <p:sldId id="291" r:id="rId23"/>
    <p:sldId id="286" r:id="rId24"/>
    <p:sldId id="265" r:id="rId25"/>
    <p:sldId id="267" r:id="rId2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AD3BD-4D03-48F2-A502-F48B12955376}" v="531" dt="2026-04-24T04:55:14.649"/>
    <p1510:client id="{2CEAC2FD-62E5-463F-9BCD-4C5CC0FBD775}" v="508" dt="2026-04-23T16:30:25.167"/>
    <p1510:client id="{4025A3A8-5D23-4C4C-8114-2D5B7239657F}" v="506" dt="2026-04-24T10:42:13.127"/>
    <p1510:client id="{A1730F6B-9E21-48F8-87AA-71BD9D3D2CD7}" v="420" dt="2026-04-24T16:31:48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17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7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24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1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86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4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17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2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22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5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2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een logo with a palm tree and text&#10;&#10;AI-generated content may be incorrect.">
            <a:extLst>
              <a:ext uri="{FF2B5EF4-FFF2-40B4-BE49-F238E27FC236}">
                <a16:creationId xmlns:a16="http://schemas.microsoft.com/office/drawing/2014/main" id="{1314BCEF-B9BF-85C2-6E51-3CD3AB498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950" y="6350"/>
            <a:ext cx="1930400" cy="1993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A02830-5A36-FBB1-4454-54D696DAACEA}"/>
              </a:ext>
            </a:extLst>
          </p:cNvPr>
          <p:cNvSpPr txBox="1"/>
          <p:nvPr/>
        </p:nvSpPr>
        <p:spPr>
          <a:xfrm>
            <a:off x="787609" y="3918120"/>
            <a:ext cx="385247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latin typeface="Times New Roman"/>
                <a:cs typeface="Times New Roman"/>
              </a:rPr>
              <a:t>Presented By:-</a:t>
            </a:r>
            <a:endParaRPr lang="en-US" sz="2400">
              <a:latin typeface="Times New Roman"/>
              <a:cs typeface="Times New Roman"/>
            </a:endParaRPr>
          </a:p>
          <a:p>
            <a:endParaRPr lang="en-GB" sz="2400" dirty="0">
              <a:latin typeface="Times New Roman"/>
              <a:cs typeface="Times New Roman"/>
            </a:endParaRPr>
          </a:p>
          <a:p>
            <a:r>
              <a:rPr lang="en-GB" sz="2400" b="1" dirty="0">
                <a:latin typeface="Times New Roman"/>
                <a:cs typeface="Times New Roman"/>
              </a:rPr>
              <a:t>Rupesh Varshney</a:t>
            </a:r>
          </a:p>
          <a:p>
            <a:endParaRPr lang="en-GB" sz="2400" b="1" dirty="0">
              <a:latin typeface="Times New Roman"/>
              <a:cs typeface="Times New Roman"/>
            </a:endParaRPr>
          </a:p>
          <a:p>
            <a:r>
              <a:rPr lang="en-GB" sz="2400" b="1" dirty="0">
                <a:latin typeface="Times New Roman"/>
                <a:cs typeface="Times New Roman"/>
              </a:rPr>
              <a:t>Faculty No :-25CPMEA113</a:t>
            </a:r>
          </a:p>
          <a:p>
            <a:endParaRPr lang="en-GB" sz="2400" b="1" dirty="0">
              <a:latin typeface="Times New Roman"/>
              <a:cs typeface="Times New Roman"/>
            </a:endParaRPr>
          </a:p>
          <a:p>
            <a:r>
              <a:rPr lang="en-GB" sz="2400" b="1" err="1">
                <a:latin typeface="Times New Roman"/>
                <a:cs typeface="Times New Roman"/>
              </a:rPr>
              <a:t>M.Tech</a:t>
            </a:r>
            <a:r>
              <a:rPr lang="en-GB" sz="2400" b="1" dirty="0">
                <a:latin typeface="Times New Roman"/>
                <a:cs typeface="Times New Roman"/>
              </a:rPr>
              <a:t> 1st Year CSE</a:t>
            </a:r>
          </a:p>
          <a:p>
            <a:endParaRPr lang="en-GB" sz="24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CC4A0-7095-BB05-929D-D7E4C959AC96}"/>
              </a:ext>
            </a:extLst>
          </p:cNvPr>
          <p:cNvSpPr txBox="1"/>
          <p:nvPr/>
        </p:nvSpPr>
        <p:spPr>
          <a:xfrm>
            <a:off x="7218390" y="3919142"/>
            <a:ext cx="497532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latin typeface="Times New Roman"/>
                <a:cs typeface="Times New Roman"/>
              </a:rPr>
              <a:t>Under the Supervision of :- </a:t>
            </a:r>
          </a:p>
          <a:p>
            <a:endParaRPr lang="en-GB" sz="2400" dirty="0">
              <a:latin typeface="Times New Roman"/>
              <a:cs typeface="Times New Roman"/>
            </a:endParaRPr>
          </a:p>
          <a:p>
            <a:r>
              <a:rPr lang="en-GB" sz="2400" b="1" dirty="0">
                <a:latin typeface="Times New Roman"/>
                <a:cs typeface="Times New Roman"/>
              </a:rPr>
              <a:t>Prof. Ash Mohammad Abbas </a:t>
            </a:r>
          </a:p>
          <a:p>
            <a:endParaRPr lang="en-GB" sz="2400" b="1" dirty="0">
              <a:latin typeface="Times New Roman"/>
              <a:cs typeface="Times New Roman"/>
            </a:endParaRPr>
          </a:p>
          <a:p>
            <a:r>
              <a:rPr lang="en-GB" sz="2400" b="1" dirty="0">
                <a:latin typeface="Times New Roman"/>
                <a:cs typeface="Times New Roman"/>
              </a:rPr>
              <a:t>Professor, Dept. Of Computer </a:t>
            </a:r>
            <a:r>
              <a:rPr lang="en-GB" sz="2400" b="1" err="1">
                <a:latin typeface="Times New Roman"/>
                <a:cs typeface="Times New Roman"/>
              </a:rPr>
              <a:t>Engg</a:t>
            </a:r>
            <a:r>
              <a:rPr lang="en-GB" sz="2400" b="1" dirty="0">
                <a:latin typeface="Times New Roman"/>
                <a:cs typeface="Times New Roman"/>
              </a:rPr>
              <a:t>.</a:t>
            </a:r>
          </a:p>
          <a:p>
            <a:endParaRPr lang="en-GB" sz="2400" b="1" dirty="0">
              <a:latin typeface="Times New Roman"/>
              <a:cs typeface="Times New Roman"/>
            </a:endParaRPr>
          </a:p>
          <a:p>
            <a:r>
              <a:rPr lang="en-GB" sz="2400" b="1">
                <a:latin typeface="Times New Roman"/>
                <a:cs typeface="Times New Roman"/>
              </a:rPr>
              <a:t>ZHCET ,AMU Aligarh</a:t>
            </a:r>
            <a:endParaRPr lang="en-GB" sz="2400" b="1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2DB84-34A4-D75C-B190-8AB6939F78B6}"/>
              </a:ext>
            </a:extLst>
          </p:cNvPr>
          <p:cNvSpPr txBox="1"/>
          <p:nvPr/>
        </p:nvSpPr>
        <p:spPr>
          <a:xfrm>
            <a:off x="1692493" y="317342"/>
            <a:ext cx="8900701" cy="16924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C69BF-426F-92DE-4202-D81D4AFAB2A1}"/>
              </a:ext>
            </a:extLst>
          </p:cNvPr>
          <p:cNvSpPr txBox="1"/>
          <p:nvPr/>
        </p:nvSpPr>
        <p:spPr>
          <a:xfrm>
            <a:off x="1558770" y="315623"/>
            <a:ext cx="954821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latin typeface="Times New Roman"/>
                <a:cs typeface="Times New Roman"/>
              </a:rPr>
              <a:t>Project (COC6919) Presentation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GB" sz="4000" dirty="0">
              <a:latin typeface="Times New Roman"/>
              <a:cs typeface="Times New Roman"/>
            </a:endParaRPr>
          </a:p>
          <a:p>
            <a:pPr algn="ctr"/>
            <a:r>
              <a:rPr lang="en-GB" sz="4000" dirty="0">
                <a:latin typeface="Times New Roman"/>
                <a:cs typeface="Times New Roman"/>
              </a:rPr>
              <a:t>Topic: Customer Churn Prediction using Machine Learning</a:t>
            </a:r>
          </a:p>
        </p:txBody>
      </p:sp>
      <p:pic>
        <p:nvPicPr>
          <p:cNvPr id="3" name="Picture 2" descr="A blue and yellow logo with a palm tree and text&#10;&#10;AI-generated content may be incorrect.">
            <a:extLst>
              <a:ext uri="{FF2B5EF4-FFF2-40B4-BE49-F238E27FC236}">
                <a16:creationId xmlns:a16="http://schemas.microsoft.com/office/drawing/2014/main" id="{31C28D2A-88E9-54C7-6830-80D24D74F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83204"/>
            <a:ext cx="1994648" cy="191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80732D-A8FD-0FED-4D13-4469606171E5}"/>
              </a:ext>
            </a:extLst>
          </p:cNvPr>
          <p:cNvSpPr txBox="1"/>
          <p:nvPr/>
        </p:nvSpPr>
        <p:spPr>
          <a:xfrm>
            <a:off x="2808505" y="-9496"/>
            <a:ext cx="657352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latin typeface="Times New Roman"/>
                <a:cs typeface="Times New Roman"/>
              </a:rPr>
              <a:t>INDEX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43D61-D8E2-0D19-8F36-09F685C89620}"/>
              </a:ext>
            </a:extLst>
          </p:cNvPr>
          <p:cNvSpPr txBox="1"/>
          <p:nvPr/>
        </p:nvSpPr>
        <p:spPr>
          <a:xfrm>
            <a:off x="859823" y="348653"/>
            <a:ext cx="10473343" cy="6524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sz="2200" dirty="0">
                <a:latin typeface="Times New Roman"/>
                <a:cs typeface="Times New Roman"/>
              </a:rPr>
              <a:t>Introduction</a:t>
            </a: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 dirty="0">
                <a:latin typeface="Times New Roman"/>
                <a:cs typeface="Times New Roman"/>
              </a:rPr>
              <a:t>Problem Background</a:t>
            </a: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 dirty="0">
                <a:latin typeface="Times New Roman"/>
                <a:cs typeface="Times New Roman"/>
              </a:rPr>
              <a:t>Literature Review</a:t>
            </a: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 dirty="0">
                <a:latin typeface="Times New Roman"/>
                <a:cs typeface="Times New Roman"/>
              </a:rPr>
              <a:t>Research Gap</a:t>
            </a: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 dirty="0">
                <a:latin typeface="Times New Roman"/>
                <a:cs typeface="Times New Roman"/>
              </a:rPr>
              <a:t>Solution</a:t>
            </a: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 err="1">
                <a:latin typeface="Times New Roman"/>
                <a:cs typeface="Times New Roman"/>
              </a:rPr>
              <a:t>Methodolog</a:t>
            </a:r>
            <a:r>
              <a:rPr lang="en-GB" sz="2200" dirty="0">
                <a:latin typeface="Times New Roman"/>
                <a:cs typeface="Times New Roman"/>
              </a:rPr>
              <a:t>y</a:t>
            </a: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>
                <a:latin typeface="Times New Roman"/>
                <a:cs typeface="Times New Roman"/>
              </a:rPr>
              <a:t>Results</a:t>
            </a: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>
                <a:latin typeface="Times New Roman"/>
                <a:cs typeface="Times New Roman"/>
              </a:rPr>
              <a:t>Applications</a:t>
            </a: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>
                <a:latin typeface="Times New Roman"/>
                <a:cs typeface="Times New Roman"/>
              </a:rPr>
              <a:t>Conclusion</a:t>
            </a: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endParaRPr lang="en-GB" sz="2200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sz="2200" dirty="0"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7539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8DFD1-DB82-E3CF-265F-37BE5D41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4DD6-3F33-4EE1-9030-B87728084D74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B0557A-AB65-3668-D106-BBE2E11E0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196EA-37A4-0FA0-B5A4-73990785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FD43B-3AB8-A94D-5233-324578229A42}"/>
              </a:ext>
            </a:extLst>
          </p:cNvPr>
          <p:cNvSpPr txBox="1"/>
          <p:nvPr/>
        </p:nvSpPr>
        <p:spPr>
          <a:xfrm>
            <a:off x="4111840" y="-420"/>
            <a:ext cx="329814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BAE136-84EC-BF9E-7F90-4EA5B128EB57}"/>
              </a:ext>
            </a:extLst>
          </p:cNvPr>
          <p:cNvSpPr txBox="1"/>
          <p:nvPr/>
        </p:nvSpPr>
        <p:spPr>
          <a:xfrm>
            <a:off x="615278" y="1337576"/>
            <a:ext cx="10970381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In today’s hyper-competitive market, businesses fail due to lack of understanding of customers.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Growth is not just about acquiring new users, but about retaining the right Customer.</a:t>
            </a:r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Modern organizations generate massive customer data, yet struggle to convert it into actionable insights.</a:t>
            </a:r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So, Customer Churn Prediction empowers businesses to move from guesswork to data-driven insights.</a:t>
            </a:r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Research show that, Acquiring a new Customer can cost </a:t>
            </a:r>
            <a:r>
              <a:rPr lang="en-US" sz="2400" b="1" dirty="0">
                <a:latin typeface="Times New Roman"/>
                <a:cs typeface="Times New Roman"/>
              </a:rPr>
              <a:t>5-7x</a:t>
            </a:r>
            <a:r>
              <a:rPr lang="en-US" sz="2400" dirty="0">
                <a:latin typeface="Times New Roman"/>
                <a:cs typeface="Times New Roman"/>
              </a:rPr>
              <a:t> more than retaining an existing customer.</a:t>
            </a:r>
          </a:p>
        </p:txBody>
      </p:sp>
    </p:spTree>
    <p:extLst>
      <p:ext uri="{BB962C8B-B14F-4D97-AF65-F5344CB8AC3E}">
        <p14:creationId xmlns:p14="http://schemas.microsoft.com/office/powerpoint/2010/main" val="187817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9ED7B-72D2-0337-8BAC-399D95F8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FDF7A-447B-4283-BFE6-049EA816D628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66DC5-7011-91BD-1F18-73D9DA2C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0BB26-C2EB-C8AC-3841-F031B8D6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24A72-0B58-2D83-45E5-6D3D4DB01795}"/>
              </a:ext>
            </a:extLst>
          </p:cNvPr>
          <p:cNvSpPr txBox="1"/>
          <p:nvPr/>
        </p:nvSpPr>
        <p:spPr>
          <a:xfrm>
            <a:off x="3572208" y="2805"/>
            <a:ext cx="503886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latin typeface="Times New Roman"/>
                <a:cs typeface="Times New Roman"/>
              </a:rPr>
              <a:t>Problem Background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C79EE-8D05-D434-3D1D-4EDE72E58C8C}"/>
              </a:ext>
            </a:extLst>
          </p:cNvPr>
          <p:cNvSpPr txBox="1"/>
          <p:nvPr/>
        </p:nvSpPr>
        <p:spPr>
          <a:xfrm>
            <a:off x="650829" y="1215750"/>
            <a:ext cx="10776857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In today’s competitive market, Customers frequently switch to competitors due to </a:t>
            </a:r>
            <a:r>
              <a:rPr lang="en-US" sz="2400" i="1" dirty="0">
                <a:latin typeface="Times New Roman"/>
                <a:cs typeface="Times New Roman"/>
              </a:rPr>
              <a:t>better pricing, improved services, or enhanced customer experience.</a:t>
            </a:r>
            <a:r>
              <a:rPr lang="en-US" sz="2400" dirty="0">
                <a:latin typeface="Times New Roman"/>
                <a:cs typeface="Times New Roman"/>
              </a:rPr>
              <a:t> This customer attrition, known as </a:t>
            </a:r>
            <a:r>
              <a:rPr lang="en-US" sz="2400" b="1" i="1" dirty="0">
                <a:latin typeface="Times New Roman"/>
                <a:cs typeface="Times New Roman"/>
              </a:rPr>
              <a:t>churn</a:t>
            </a:r>
            <a:r>
              <a:rPr lang="en-US" sz="2400" dirty="0">
                <a:latin typeface="Times New Roman"/>
                <a:cs typeface="Times New Roman"/>
              </a:rPr>
              <a:t>, leads to </a:t>
            </a:r>
            <a:r>
              <a:rPr lang="en-US" sz="2400" i="1" dirty="0">
                <a:latin typeface="Times New Roman"/>
                <a:cs typeface="Times New Roman"/>
              </a:rPr>
              <a:t>revenue loss and increased operational costs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Business React When:</a:t>
            </a: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The customer is already about to leave.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Unable to handle large amounts of data.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Lack of understanding of customer behavior.</a:t>
            </a:r>
            <a:endParaRPr lang="en-US" sz="2400" dirty="0">
              <a:latin typeface="Times New Roman"/>
              <a:cs typeface="Times New Roman"/>
            </a:endParaRPr>
          </a:p>
          <a:p>
            <a:pPr marL="685800" lvl="1" indent="-228600">
              <a:buFont typeface="Courier New"/>
              <a:buChar char="o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As a result, There is a need for an intelligent and data-driven approach that can:</a:t>
            </a:r>
          </a:p>
          <a:p>
            <a:pPr marL="685800" lvl="1" indent="-228600">
              <a:buFont typeface="Courier New"/>
              <a:buChar char="o"/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Predict potential churners at an early stage</a:t>
            </a:r>
          </a:p>
          <a:p>
            <a:pPr marL="685800" lvl="1" indent="-228600">
              <a:buFont typeface="Courier New"/>
              <a:buChar char="o"/>
            </a:pPr>
            <a:r>
              <a:rPr lang="en-US" sz="2400" dirty="0">
                <a:latin typeface="Times New Roman"/>
                <a:cs typeface="Times New Roman"/>
              </a:rPr>
              <a:t>Detect hidden behavioral patterns</a:t>
            </a:r>
          </a:p>
          <a:p>
            <a:pPr marL="685800" lvl="1" indent="-228600">
              <a:buFont typeface="Courier New"/>
              <a:buChar char="o"/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Analyze historical customer data 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78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496FE-AF79-6758-9269-8BC6018E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688B83-2C01-F95E-7453-38A743E0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FDF7A-447B-4283-BFE6-049EA816D628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53597-76F5-179F-5F90-68989B6F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C2048-D22F-D5DD-3473-68225B36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90ED0-2551-88AE-BB80-B974F40A8BAB}"/>
              </a:ext>
            </a:extLst>
          </p:cNvPr>
          <p:cNvSpPr txBox="1"/>
          <p:nvPr/>
        </p:nvSpPr>
        <p:spPr>
          <a:xfrm>
            <a:off x="3765642" y="-212"/>
            <a:ext cx="46543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latin typeface="Times New Roman"/>
                <a:cs typeface="Times New Roman"/>
              </a:rPr>
              <a:t>Literature Review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251E2-0B10-DF1F-5C39-E01798AB1058}"/>
              </a:ext>
            </a:extLst>
          </p:cNvPr>
          <p:cNvSpPr txBox="1"/>
          <p:nvPr/>
        </p:nvSpPr>
        <p:spPr>
          <a:xfrm>
            <a:off x="784980" y="856343"/>
            <a:ext cx="10619618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Early Approaches: Statistical Models</a:t>
            </a:r>
          </a:p>
          <a:p>
            <a:r>
              <a:rPr lang="en-US" sz="2400" dirty="0">
                <a:latin typeface="Times New Roman"/>
                <a:cs typeface="Times New Roman"/>
              </a:rPr>
              <a:t>Initially, churn prediction relied on traditional statistical techniques such as: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latin typeface="Times New Roman"/>
                <a:cs typeface="Times New Roman"/>
              </a:rPr>
              <a:t>Guess work</a:t>
            </a: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latin typeface="Times New Roman"/>
                <a:ea typeface="+mn-lt"/>
                <a:cs typeface="Times New Roman"/>
              </a:rPr>
              <a:t>Used historical data to estimate probability of churn</a:t>
            </a:r>
          </a:p>
          <a:p>
            <a:pPr marL="800100" lvl="1" indent="-342900">
              <a:buFont typeface="Courier New"/>
              <a:buChar char="o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latin typeface="Times New Roman"/>
                <a:ea typeface="+mn-lt"/>
                <a:cs typeface="Times New Roman"/>
              </a:rPr>
              <a:t>learn patterns from customer data</a:t>
            </a:r>
            <a:endParaRPr lang="en-US" sz="2400">
              <a:latin typeface="Times New Roman"/>
              <a:cs typeface="Times New Roman"/>
            </a:endParaRPr>
          </a:p>
          <a:p>
            <a:pPr marL="228600" indent="-2286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685800" lvl="1" indent="-228600">
              <a:buFont typeface="Courier New"/>
              <a:buChar char="o"/>
            </a:pPr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Although widely used, these approaches struggle with:</a:t>
            </a:r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685800" lvl="1" indent="-228600">
              <a:buFont typeface="Courier New"/>
              <a:buChar char="o"/>
            </a:pPr>
            <a:r>
              <a:rPr lang="en-US" sz="2400" i="1" dirty="0">
                <a:latin typeface="Times New Roman"/>
                <a:cs typeface="Times New Roman"/>
              </a:rPr>
              <a:t>Non-linear relationships</a:t>
            </a:r>
          </a:p>
          <a:p>
            <a:pPr marL="685800" lvl="1" indent="-228600">
              <a:buFont typeface="Courier New"/>
              <a:buChar char="o"/>
            </a:pPr>
            <a:r>
              <a:rPr lang="en-US" sz="2400" i="1" dirty="0">
                <a:latin typeface="Times New Roman"/>
                <a:cs typeface="Times New Roman"/>
              </a:rPr>
              <a:t>Limited in handling large dataset</a:t>
            </a:r>
          </a:p>
        </p:txBody>
      </p:sp>
    </p:spTree>
    <p:extLst>
      <p:ext uri="{BB962C8B-B14F-4D97-AF65-F5344CB8AC3E}">
        <p14:creationId xmlns:p14="http://schemas.microsoft.com/office/powerpoint/2010/main" val="363998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89D56-4793-C8BE-101C-0A9A8118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62862-981D-0159-A23D-E6EF40D7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FDF7A-447B-4283-BFE6-049EA816D628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EEDE5-0C4B-1FDF-D2BC-7D42CE6F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D5736-6CBD-63E2-46C1-67624E99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B06C2-4304-3534-196B-8E95486BF346}"/>
              </a:ext>
            </a:extLst>
          </p:cNvPr>
          <p:cNvSpPr txBox="1"/>
          <p:nvPr/>
        </p:nvSpPr>
        <p:spPr>
          <a:xfrm>
            <a:off x="738888" y="1718738"/>
            <a:ext cx="1072484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Model Drawbacks:-</a:t>
            </a:r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Ignore early-stage churn signals hidden in Dataset.</a:t>
            </a:r>
          </a:p>
          <a:p>
            <a:pPr marL="800100" lvl="1" indent="-342900">
              <a:buFont typeface="Courier New"/>
              <a:buChar char="o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Model depend only on past data, not changing behavior.</a:t>
            </a:r>
            <a:endParaRPr lang="en-US" dirty="0"/>
          </a:p>
          <a:p>
            <a:pPr marL="800100" lvl="1" indent="-342900">
              <a:buFont typeface="Courier New"/>
              <a:buChar char="o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Decision are not taken at the right time.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3DF07-E6CD-74B1-E360-3F47345C4526}"/>
              </a:ext>
            </a:extLst>
          </p:cNvPr>
          <p:cNvSpPr txBox="1"/>
          <p:nvPr/>
        </p:nvSpPr>
        <p:spPr>
          <a:xfrm>
            <a:off x="3784279" y="-3138"/>
            <a:ext cx="46392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Research</a:t>
            </a:r>
            <a:r>
              <a:rPr lang="en-US" sz="3600" b="1" dirty="0">
                <a:latin typeface="Times New Roman"/>
                <a:cs typeface="Times New Roman"/>
              </a:rPr>
              <a:t> Gap</a:t>
            </a:r>
            <a:endParaRPr lang="en-US" sz="36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E0F60-FA5F-8228-7420-65F7C67862B4}"/>
              </a:ext>
            </a:extLst>
          </p:cNvPr>
          <p:cNvSpPr txBox="1"/>
          <p:nvPr/>
        </p:nvSpPr>
        <p:spPr>
          <a:xfrm>
            <a:off x="741265" y="1299788"/>
            <a:ext cx="1010613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Existing Customer Churn Prediction models primarily focus on </a:t>
            </a:r>
            <a:r>
              <a:rPr lang="en-US" sz="2400">
                <a:latin typeface="Times New Roman"/>
                <a:ea typeface="Calibri"/>
                <a:cs typeface="Times New Roman"/>
              </a:rPr>
              <a:t>achieving high</a:t>
            </a:r>
            <a:r>
              <a:rPr lang="en-US" sz="2400" dirty="0">
                <a:latin typeface="Times New Roman"/>
                <a:ea typeface="Calibri"/>
                <a:cs typeface="Times New Roman"/>
              </a:rPr>
              <a:t> accuracy, but overlook real-world business &amp; Customer needs.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24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96190-E6E5-17D2-CCC7-354E2A96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EE218-03A4-FFA0-2E63-6DD37DFC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5625A-2684-9769-D2E8-6A90C6FE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CAA62-FDFB-491B-741E-F56945519D7E}"/>
              </a:ext>
            </a:extLst>
          </p:cNvPr>
          <p:cNvSpPr txBox="1"/>
          <p:nvPr/>
        </p:nvSpPr>
        <p:spPr>
          <a:xfrm>
            <a:off x="1500111" y="1424216"/>
            <a:ext cx="898877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,Sans-Serif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Recent studies suggest that future progress in churn prediction lies in:</a:t>
            </a:r>
          </a:p>
          <a:p>
            <a:pPr marL="342900" indent="-342900">
              <a:buFont typeface="Wingdings,Sans-Serif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 i="1" dirty="0">
                <a:latin typeface="Times New Roman"/>
                <a:cs typeface="Times New Roman"/>
              </a:rPr>
              <a:t>Hybrid Models </a:t>
            </a:r>
            <a:r>
              <a:rPr lang="en-US" sz="2400" dirty="0">
                <a:latin typeface="Times New Roman"/>
                <a:cs typeface="Times New Roman"/>
              </a:rPr>
              <a:t>— combining multiple algorithms for better </a:t>
            </a:r>
            <a:r>
              <a:rPr lang="en-US" sz="2400">
                <a:latin typeface="Times New Roman"/>
                <a:cs typeface="Times New Roman"/>
              </a:rPr>
              <a:t>accuracy and prediction.</a:t>
            </a:r>
          </a:p>
          <a:p>
            <a:pPr marL="800100" lvl="1" indent="-342900">
              <a:buFont typeface="Courier New,monospace"/>
              <a:buChar char="o"/>
            </a:pP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Decision Tree Classifier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Random Forest Classifier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 dirty="0" err="1">
                <a:latin typeface="Times New Roman"/>
                <a:cs typeface="Times New Roman"/>
              </a:rPr>
              <a:t>XGBoost</a:t>
            </a:r>
            <a:r>
              <a:rPr lang="en-US" sz="2400" dirty="0">
                <a:latin typeface="Times New Roman"/>
                <a:cs typeface="Times New Roman"/>
              </a:rPr>
              <a:t> Classifier</a:t>
            </a:r>
            <a:endParaRPr lang="en-US" dirty="0"/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LightGBM Classifier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69200-3896-FF76-1642-3C8F0D19E2B6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latin typeface="Times New Roman"/>
                <a:cs typeface="Times New Roman"/>
              </a:rPr>
              <a:t>Solution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069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8F4C-B720-A9F9-9E01-4BA15C54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88C3A9-0707-9326-5998-A8C64EA5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06174-BB4F-205A-E53F-D2E76554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11F62-3968-A195-ED21-C9E35FD8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C79FF-19F5-2E6D-CAD3-4A2573BF4AA4}"/>
              </a:ext>
            </a:extLst>
          </p:cNvPr>
          <p:cNvSpPr txBox="1"/>
          <p:nvPr/>
        </p:nvSpPr>
        <p:spPr>
          <a:xfrm>
            <a:off x="1021104" y="1165947"/>
            <a:ext cx="1013782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1. Data Acquisition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Wingdings"/>
              <a:buChar char="v"/>
            </a:pPr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The first stage of the system involves collecting customer data from available sources. This data may include:</a:t>
            </a:r>
          </a:p>
          <a:p>
            <a:pPr marL="800100" lvl="1" indent="-342900" algn="just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Customer demographic details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Account information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Service usage patterns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Billing and payment details</a:t>
            </a:r>
          </a:p>
          <a:p>
            <a:pPr marL="1257300" lvl="2" indent="-342900">
              <a:buFont typeface="Wingdings"/>
              <a:buChar char="§"/>
            </a:pP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The collected raw data is stored in the form of a dataset (typically CSV format). This dataset acts as the input for further processing and analysis.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CF3A0-6930-C961-2CEF-F8A82CF584CC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Methodology</a:t>
            </a:r>
            <a:endParaRPr lang="en-GB" sz="4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24297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C3D34-2F45-440A-4484-24FD32E4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F4D48-8CCE-97A5-BBD5-C5362E59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B7BCF-8DE8-2EE7-3989-57D90B7B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54C18-7680-9D95-A82B-5E91C69B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B5691-D1F2-E4BE-5E91-86BADD37CD8B}"/>
              </a:ext>
            </a:extLst>
          </p:cNvPr>
          <p:cNvSpPr txBox="1"/>
          <p:nvPr/>
        </p:nvSpPr>
        <p:spPr>
          <a:xfrm>
            <a:off x="1287199" y="1244922"/>
            <a:ext cx="8988777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2. Data Preprocessing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The raw dataset is not directly suitable for machine learning models, so it undergoes preprocessing. This step ensures data quality and consistency.</a:t>
            </a:r>
          </a:p>
          <a:p>
            <a:pPr marL="800100" lvl="1" indent="-342900" algn="just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Handling missing values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Removing irrelevant attributes (e.g., customer ID)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Encoding categorical variables into numerical format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Feature scaling </a:t>
            </a:r>
            <a:r>
              <a:rPr lang="en-US" sz="2400">
                <a:latin typeface="Times New Roman"/>
                <a:ea typeface="+mn-lt"/>
                <a:cs typeface="Times New Roman"/>
              </a:rPr>
              <a:t>and normalization</a:t>
            </a:r>
            <a:endParaRPr lang="en-US" sz="240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After preprocessing, the data becomes clean and structured, ready for model training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2F87C-E474-0D64-0F61-607D39805C4C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Methodology</a:t>
            </a:r>
            <a:endParaRPr lang="en-GB" sz="1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27797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02AC-4BC6-AABD-F8AE-A6D5143C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7683C-8509-368F-D251-6EA3986E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E8599-6F29-0C76-5A18-FED5B2BF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EE8D7-183F-E721-CB15-10568AC6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B287C-CB76-348F-E783-BD5C7E55DAB3}"/>
              </a:ext>
            </a:extLst>
          </p:cNvPr>
          <p:cNvSpPr txBox="1"/>
          <p:nvPr/>
        </p:nvSpPr>
        <p:spPr>
          <a:xfrm>
            <a:off x="1500111" y="1424216"/>
            <a:ext cx="898877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3. Feature Selection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In this stage, important features that influence customer churn are selected from the cleaned dataset.</a:t>
            </a:r>
          </a:p>
          <a:p>
            <a:pPr marL="800100" lvl="1" indent="-342900" algn="just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Irrelevant or redundant features are removed</a:t>
            </a: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Only meaningful features are retained</a:t>
            </a: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This improves model performance </a:t>
            </a:r>
            <a:r>
              <a:rPr lang="en-US" sz="2400">
                <a:latin typeface="Times New Roman"/>
                <a:ea typeface="+mn-lt"/>
                <a:cs typeface="Times New Roman"/>
              </a:rPr>
              <a:t>and reduces complexity</a:t>
            </a:r>
            <a:endParaRPr lang="en-US" sz="2400">
              <a:latin typeface="Times New Roman"/>
              <a:cs typeface="Times New Roman"/>
            </a:endParaRPr>
          </a:p>
          <a:p>
            <a:pPr marL="1257300" lvl="2" indent="-342900" algn="just">
              <a:buFont typeface="Wingdings"/>
              <a:buChar char="§"/>
            </a:pPr>
            <a:r>
              <a:rPr lang="en-US" sz="2400">
                <a:latin typeface="Times New Roman"/>
                <a:ea typeface="+mn-lt"/>
                <a:cs typeface="Times New Roman"/>
              </a:rPr>
              <a:t>The output of this</a:t>
            </a:r>
            <a:r>
              <a:rPr lang="en-US" sz="2400">
                <a:latin typeface="Times New Roman"/>
                <a:cs typeface="Times New Roman"/>
              </a:rPr>
              <a:t> step is a set of relevant features used for training models.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7505C-2FA5-B166-948A-50C6590E44AA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latin typeface="Times New Roman"/>
                <a:cs typeface="Times New Roman"/>
              </a:rPr>
              <a:t>Methodolo</a:t>
            </a:r>
            <a:r>
              <a:rPr lang="en-GB" sz="4000" b="1">
                <a:latin typeface="Times New Roman"/>
                <a:cs typeface="Times New Roman"/>
              </a:rPr>
              <a:t>gy</a:t>
            </a:r>
            <a:endParaRPr lang="en-GB" sz="4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50538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9F965-8955-485B-BF08-7315A627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D777E-39E6-7AC7-FB3C-D7626926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19B91-0822-18F4-A8DE-4A96180C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CB125-506F-E059-57C8-09E79AC9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91CCC-A50C-CB3C-29FE-0AF90822E29F}"/>
              </a:ext>
            </a:extLst>
          </p:cNvPr>
          <p:cNvSpPr txBox="1"/>
          <p:nvPr/>
        </p:nvSpPr>
        <p:spPr>
          <a:xfrm>
            <a:off x="1500111" y="1424216"/>
            <a:ext cx="898877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4. Model Building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Wingdings"/>
              <a:buChar char="v"/>
            </a:pPr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The system builds multiple machine learning models using the selected features.</a:t>
            </a:r>
          </a:p>
          <a:p>
            <a:pPr lvl="1" algn="just"/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Decision Tree Classifier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Random Forest Classifier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 dirty="0" err="1">
                <a:latin typeface="Times New Roman"/>
                <a:cs typeface="Times New Roman"/>
              </a:rPr>
              <a:t>XGBoost</a:t>
            </a:r>
            <a:r>
              <a:rPr lang="en-US" sz="2400" dirty="0">
                <a:latin typeface="Times New Roman"/>
                <a:cs typeface="Times New Roman"/>
              </a:rPr>
              <a:t> Classifier</a:t>
            </a:r>
            <a:endParaRPr lang="en-US" sz="240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 dirty="0" err="1">
                <a:latin typeface="Times New Roman"/>
                <a:cs typeface="Times New Roman"/>
              </a:rPr>
              <a:t>LightGBM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Classifier</a:t>
            </a:r>
            <a:endParaRPr lang="en-US" sz="2400">
              <a:latin typeface="Times New Roman"/>
              <a:cs typeface="Times New Roman"/>
            </a:endParaRPr>
          </a:p>
          <a:p>
            <a:pPr marL="800100" lvl="1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 algn="just">
              <a:buFont typeface="Wingdings"/>
              <a:buChar char="v"/>
            </a:pPr>
            <a:r>
              <a:rPr lang="en-US" sz="2400">
                <a:latin typeface="Times New Roman"/>
                <a:cs typeface="Times New Roman"/>
              </a:rPr>
              <a:t>Each model learns patterns from the data and tries to classify the customers.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59EAC-9F75-C3B1-7633-914CFAF8733C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Methodology</a:t>
            </a:r>
            <a:endParaRPr lang="en-GB" sz="4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35082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34E5-ACD0-1C58-3D26-ADDAF5DC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96B21-B516-4B9B-136D-7C3A3998C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0198D-56F1-5582-E116-7A876829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6C013-6127-7974-B6B4-EBE813EB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42F1A-F3B8-5FC7-F22B-A147FA58C340}"/>
              </a:ext>
            </a:extLst>
          </p:cNvPr>
          <p:cNvSpPr txBox="1"/>
          <p:nvPr/>
        </p:nvSpPr>
        <p:spPr>
          <a:xfrm>
            <a:off x="1500111" y="1424216"/>
            <a:ext cx="898877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5. Data Splitting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Wingdings"/>
              <a:buChar char="v"/>
            </a:pPr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Before training, the dataset is divided into:</a:t>
            </a:r>
          </a:p>
          <a:p>
            <a:pPr marL="800100" lvl="1" indent="-342900" algn="just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Training Data (</a:t>
            </a:r>
            <a:r>
              <a:rPr lang="en-US" sz="2400" i="1">
                <a:latin typeface="Times New Roman"/>
                <a:cs typeface="Times New Roman"/>
              </a:rPr>
              <a:t>80%</a:t>
            </a:r>
            <a:r>
              <a:rPr lang="en-US" sz="2400">
                <a:latin typeface="Times New Roman"/>
                <a:cs typeface="Times New Roman"/>
              </a:rPr>
              <a:t>) – used to train models</a:t>
            </a: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Testing Data (</a:t>
            </a:r>
            <a:r>
              <a:rPr lang="en-US" sz="2400" i="1">
                <a:latin typeface="Times New Roman"/>
                <a:cs typeface="Times New Roman"/>
              </a:rPr>
              <a:t>20%</a:t>
            </a:r>
            <a:r>
              <a:rPr lang="en-US" sz="2400">
                <a:latin typeface="Times New Roman"/>
                <a:cs typeface="Times New Roman"/>
              </a:rPr>
              <a:t>) – used to evaluate models</a:t>
            </a:r>
          </a:p>
          <a:p>
            <a:pPr marL="1257300" lvl="2" indent="-342900">
              <a:buFont typeface="Wingdings"/>
              <a:buChar char="§"/>
            </a:pP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This ensures that the model is tested on unseen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B4E35-1EFE-DDF5-902E-98A5C20974A9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Methodology</a:t>
            </a:r>
            <a:endParaRPr lang="en-GB" sz="4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56768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0D5C2-BD53-C498-7897-CCA5D78B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362FF-FCA3-1F86-3CF2-F356C268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0039-CDBE-87F3-AFC5-2D6048C0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C2FA2-C824-70AD-E211-A1EDAC08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E85AE-C1F2-1EA1-FF84-2F5D1F1FD266}"/>
              </a:ext>
            </a:extLst>
          </p:cNvPr>
          <p:cNvSpPr txBox="1"/>
          <p:nvPr/>
        </p:nvSpPr>
        <p:spPr>
          <a:xfrm>
            <a:off x="1500111" y="1424216"/>
            <a:ext cx="8988777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6. Training and Testing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Models are trained using the training dataset</a:t>
            </a:r>
          </a:p>
          <a:p>
            <a:pPr marL="800100" lvl="1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Predictions are made on the testing dataset</a:t>
            </a:r>
          </a:p>
          <a:p>
            <a:pPr marL="800100" lvl="1" indent="-342900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Performance is evaluated </a:t>
            </a:r>
            <a:r>
              <a:rPr lang="en-US" sz="2400">
                <a:latin typeface="Times New Roman"/>
                <a:ea typeface="+mn-lt"/>
                <a:cs typeface="Times New Roman"/>
              </a:rPr>
              <a:t>using metrics such as:</a:t>
            </a:r>
            <a:endParaRPr lang="en-US" sz="240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ea typeface="+mn-lt"/>
                <a:cs typeface="Times New Roman"/>
              </a:rPr>
              <a:t>Accuracy Score</a:t>
            </a:r>
            <a:endParaRPr lang="en-US" sz="240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Confusion Matrix</a:t>
            </a:r>
          </a:p>
          <a:p>
            <a:pPr marL="1257300" lvl="2" indent="-342900">
              <a:buFont typeface="Wingdings"/>
              <a:buChar char="§"/>
            </a:pP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This step ensures that the model generalizes well.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EF03D-C9BA-9951-156F-FE9AA1EBF79B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Methodology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849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C873-0FF4-9BB0-7E75-AB125452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CC096-B6A8-F967-A8CA-18A6FC5CB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116F17-3AC4-127A-31F7-B1C3A8A5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1BC5B-CD59-2556-FABF-8FA33F3F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FBD6D-F2BD-0222-1E57-F5EA5E4A8EA3}"/>
              </a:ext>
            </a:extLst>
          </p:cNvPr>
          <p:cNvSpPr txBox="1"/>
          <p:nvPr/>
        </p:nvSpPr>
        <p:spPr>
          <a:xfrm>
            <a:off x="1500111" y="1424216"/>
            <a:ext cx="898877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7. Classification (Prediction Stage)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 algn="just">
              <a:buFont typeface="Wingdings"/>
              <a:buChar char="v"/>
            </a:pPr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>
                <a:latin typeface="Times New Roman"/>
                <a:cs typeface="Times New Roman"/>
              </a:rPr>
              <a:t>After training, the system performs classification:</a:t>
            </a: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Will Churn (1) → </a:t>
            </a:r>
            <a:r>
              <a:rPr lang="en-US" sz="2400">
                <a:latin typeface="Times New Roman"/>
                <a:ea typeface="+mn-lt"/>
                <a:cs typeface="Times New Roman"/>
              </a:rPr>
              <a:t>Customer likely to leave</a:t>
            </a: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ea typeface="+mn-lt"/>
                <a:cs typeface="Times New Roman"/>
              </a:rPr>
              <a:t>Will Not Churn (0) → </a:t>
            </a:r>
            <a:r>
              <a:rPr lang="en-US" sz="2400">
                <a:latin typeface="Times New Roman"/>
                <a:cs typeface="Times New Roman"/>
              </a:rPr>
              <a:t>Customer likely to stay</a:t>
            </a:r>
            <a:endParaRPr lang="en-US" sz="24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endParaRPr lang="en-US" sz="2400" dirty="0">
              <a:latin typeface="Times New Roman"/>
              <a:cs typeface="Times New Roman"/>
            </a:endParaRPr>
          </a:p>
          <a:p>
            <a:pPr marL="342900" indent="-342900" algn="just">
              <a:buFont typeface="Wingdings"/>
              <a:buChar char="v"/>
            </a:pPr>
            <a:r>
              <a:rPr lang="en-US" sz="2400">
                <a:latin typeface="Times New Roman"/>
                <a:cs typeface="Times New Roman"/>
              </a:rPr>
              <a:t>This is the core output of the system.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4F99E-6ADB-7AC6-8C02-193D7E525221}"/>
              </a:ext>
            </a:extLst>
          </p:cNvPr>
          <p:cNvSpPr txBox="1"/>
          <p:nvPr/>
        </p:nvSpPr>
        <p:spPr>
          <a:xfrm>
            <a:off x="387226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Methodology</a:t>
            </a:r>
            <a:endParaRPr lang="en-GB" sz="4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33472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2CD5-6B2E-E6AE-1314-097FE2D9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E7343-2320-3EF8-9BD8-4F47FF9C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5E932-2B49-4A0B-B9C8-444FAF557AB6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6A3FC-C958-7F1D-B9E0-7EFB5C64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80B61-DC69-9F81-21F2-9C3E0925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EDAFD-8E29-C64B-875A-706BEEB580DC}"/>
              </a:ext>
            </a:extLst>
          </p:cNvPr>
          <p:cNvSpPr txBox="1"/>
          <p:nvPr/>
        </p:nvSpPr>
        <p:spPr>
          <a:xfrm>
            <a:off x="1287199" y="1032010"/>
            <a:ext cx="898877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v"/>
            </a:pPr>
            <a:r>
              <a:rPr lang="en-US" sz="2400" b="1">
                <a:latin typeface="Times New Roman"/>
                <a:cs typeface="Times New Roman"/>
              </a:rPr>
              <a:t>8. Model Evaluation and Comparison</a:t>
            </a:r>
            <a:endParaRPr lang="en-US" sz="2400"/>
          </a:p>
          <a:p>
            <a:pPr marL="342900" indent="-342900" algn="just">
              <a:buFont typeface="Wingdings"/>
              <a:buChar char="v"/>
            </a:pPr>
            <a:endParaRPr lang="en-US" sz="2400" b="1" dirty="0">
              <a:latin typeface="Times New Roman"/>
              <a:cs typeface="Times New Roman"/>
            </a:endParaRPr>
          </a:p>
          <a:p>
            <a:pPr marL="800100" lvl="1" indent="-342900" algn="just">
              <a:buFont typeface="Wingdings"/>
              <a:buChar char="Ø"/>
            </a:pPr>
            <a:r>
              <a:rPr lang="en-US" sz="2400" dirty="0">
                <a:latin typeface="Times New Roman"/>
                <a:cs typeface="Times New Roman"/>
              </a:rPr>
              <a:t>The performance of all models is compared to identify the best-performing model.</a:t>
            </a:r>
            <a:endParaRPr lang="en-US" sz="2400"/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cs typeface="Times New Roman"/>
              </a:rPr>
              <a:t>Accuracy </a:t>
            </a:r>
            <a:r>
              <a:rPr lang="en-US" sz="2400">
                <a:latin typeface="Times New Roman"/>
                <a:ea typeface="+mn-lt"/>
                <a:cs typeface="Times New Roman"/>
              </a:rPr>
              <a:t>scores are compared</a:t>
            </a:r>
            <a:endParaRPr lang="en-US" sz="2400">
              <a:latin typeface="Aptos Light"/>
              <a:ea typeface="+mn-lt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US" sz="2400">
                <a:latin typeface="Times New Roman"/>
                <a:ea typeface="+mn-lt"/>
                <a:cs typeface="Times New Roman"/>
              </a:rPr>
              <a:t>Confusion matrices </a:t>
            </a:r>
            <a:r>
              <a:rPr lang="en-US" sz="2400">
                <a:latin typeface="Times New Roman"/>
                <a:cs typeface="Times New Roman"/>
              </a:rPr>
              <a:t>are analyzed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00D6D-6011-E50B-AADF-776B16729248}"/>
              </a:ext>
            </a:extLst>
          </p:cNvPr>
          <p:cNvSpPr txBox="1"/>
          <p:nvPr/>
        </p:nvSpPr>
        <p:spPr>
          <a:xfrm>
            <a:off x="3666640" y="-5623"/>
            <a:ext cx="42312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Methodology</a:t>
            </a:r>
            <a:endParaRPr lang="en-GB" sz="4000" b="1" dirty="0">
              <a:latin typeface="Times New Roman"/>
              <a:cs typeface="Times New Roman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293B85-13AC-8479-A14C-3073A99CE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688660"/>
              </p:ext>
            </p:extLst>
          </p:nvPr>
        </p:nvGraphicFramePr>
        <p:xfrm>
          <a:off x="343113" y="3640553"/>
          <a:ext cx="11517288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4954">
                  <a:extLst>
                    <a:ext uri="{9D8B030D-6E8A-4147-A177-3AD203B41FA5}">
                      <a16:colId xmlns:a16="http://schemas.microsoft.com/office/drawing/2014/main" val="2386848486"/>
                    </a:ext>
                  </a:extLst>
                </a:gridCol>
                <a:gridCol w="2870778">
                  <a:extLst>
                    <a:ext uri="{9D8B030D-6E8A-4147-A177-3AD203B41FA5}">
                      <a16:colId xmlns:a16="http://schemas.microsoft.com/office/drawing/2014/main" val="2603013104"/>
                    </a:ext>
                  </a:extLst>
                </a:gridCol>
                <a:gridCol w="2870778">
                  <a:extLst>
                    <a:ext uri="{9D8B030D-6E8A-4147-A177-3AD203B41FA5}">
                      <a16:colId xmlns:a16="http://schemas.microsoft.com/office/drawing/2014/main" val="209076614"/>
                    </a:ext>
                  </a:extLst>
                </a:gridCol>
                <a:gridCol w="2870778">
                  <a:extLst>
                    <a:ext uri="{9D8B030D-6E8A-4147-A177-3AD203B41FA5}">
                      <a16:colId xmlns:a16="http://schemas.microsoft.com/office/drawing/2014/main" val="2041688196"/>
                    </a:ext>
                  </a:extLst>
                </a:gridCol>
              </a:tblGrid>
              <a:tr h="36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>
                          <a:latin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>
                          <a:latin typeface="Times New Roman"/>
                          <a:cs typeface="Times New Roman"/>
                        </a:rPr>
                        <a:t>TP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>
                          <a:latin typeface="Times New Roman"/>
                          <a:cs typeface="Times New Roman"/>
                        </a:rPr>
                        <a:t>FN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52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Stacking (</a:t>
                      </a:r>
                      <a:r>
                        <a:rPr lang="en-GB" b="1" dirty="0" err="1"/>
                        <a:t>MultiModel</a:t>
                      </a:r>
                      <a:r>
                        <a:rPr lang="en-GB" b="1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43.25%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6.52%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39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42.5%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6.91%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22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LightGBM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42.3%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6.67%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51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Random Forest</a:t>
                      </a:r>
                      <a:endParaRPr lang="en-GB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42.2%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7.54%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87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Decision Tree</a:t>
                      </a:r>
                      <a:endParaRPr lang="en-GB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39.7%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10.00%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988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6253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6B2BE-512C-9C78-B805-D44DE28F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21ED-769D-4247-B852-12C260B24943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A5901-9035-B713-109D-671ED456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DA1A3-56B0-5BA1-98B2-32A32829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EE77A-5E70-F71B-6560-7517E7657E41}"/>
              </a:ext>
            </a:extLst>
          </p:cNvPr>
          <p:cNvSpPr txBox="1"/>
          <p:nvPr/>
        </p:nvSpPr>
        <p:spPr>
          <a:xfrm>
            <a:off x="3656814" y="-29"/>
            <a:ext cx="50424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>
                <a:latin typeface="Times New Roman"/>
                <a:cs typeface="Times New Roman"/>
              </a:rPr>
              <a:t>Overall Project Workflow</a:t>
            </a:r>
          </a:p>
        </p:txBody>
      </p:sp>
      <p:pic>
        <p:nvPicPr>
          <p:cNvPr id="5" name="Picture 4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2C08D83E-3781-F8F6-D9B6-52356AE8F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618" y="683558"/>
            <a:ext cx="8169087" cy="586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510D-9286-633C-4FC7-972DE367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95E59-DFFA-7DA5-607E-8CE1F56E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21ED-769D-4247-B852-12C260B24943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546B7-7F36-4444-CC48-01077BF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32BE1-A0E7-94F1-3FEA-BE7BDE5C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05D88-C28B-5172-9CAF-7ADA20646CB7}"/>
              </a:ext>
            </a:extLst>
          </p:cNvPr>
          <p:cNvSpPr txBox="1"/>
          <p:nvPr/>
        </p:nvSpPr>
        <p:spPr>
          <a:xfrm>
            <a:off x="3572147" y="-29"/>
            <a:ext cx="504242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Results</a:t>
            </a:r>
            <a:endParaRPr lang="en-GB" sz="4000" b="1" dirty="0">
              <a:latin typeface="Times New Roman"/>
              <a:cs typeface="Times New Roman"/>
            </a:endParaRPr>
          </a:p>
        </p:txBody>
      </p:sp>
      <p:pic>
        <p:nvPicPr>
          <p:cNvPr id="13" name="Picture 12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80113398-576E-55DD-44D7-7D2B9739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05" y="1387569"/>
            <a:ext cx="7488891" cy="4486275"/>
          </a:xfrm>
          <a:prstGeom prst="rect">
            <a:avLst/>
          </a:prstGeom>
        </p:spPr>
      </p:pic>
      <p:pic>
        <p:nvPicPr>
          <p:cNvPr id="14" name="Picture 13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0359FDC5-9AA8-24C4-BDA9-5AB5398CE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884" y="1382525"/>
            <a:ext cx="3629025" cy="447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60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83F85-F800-0AD2-2B5C-CA2DBBB7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A168-6A5A-4DA6-98CE-976FC75C5630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0C236-6615-0A1A-99E8-B61B8419D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8098E-63B8-7B7C-2022-13CFD1F8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18</a:t>
            </a:fld>
            <a:endParaRPr lang="en-US" dirty="0"/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A072365-321C-C303-7B12-99937D16D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52" y="837640"/>
            <a:ext cx="6043894" cy="4936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2AA6F8-851F-D96D-79F9-CCA038D93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230" y="840441"/>
            <a:ext cx="5574367" cy="49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51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79AFA-F382-F8A1-E63C-D2FAD41D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1EDFA-4F15-43CD-8AE3-428404911B8D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65968-CD9D-0BE1-2BE3-F39C59B8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BFA02-1D0A-6FC2-1040-B80560C6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19</a:t>
            </a:fld>
            <a:endParaRPr lang="en-US" dirty="0"/>
          </a:p>
        </p:txBody>
      </p:sp>
      <p:pic>
        <p:nvPicPr>
          <p:cNvPr id="5" name="Picture 4" descr="A graph of different sizes of rectangles&#10;&#10;AI-generated content may be incorrect.">
            <a:extLst>
              <a:ext uri="{FF2B5EF4-FFF2-40B4-BE49-F238E27FC236}">
                <a16:creationId xmlns:a16="http://schemas.microsoft.com/office/drawing/2014/main" id="{F9975DF7-ECFC-A224-B167-E9B2EFC94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2" y="246694"/>
            <a:ext cx="12091148" cy="629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64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E5FAA5-CB3D-D19D-59BA-B85385BE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E5B83-CEB0-4968-A55A-86A43A112C1E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0D3B4-A91E-6E06-274E-F7A70678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442A0-239B-ABE7-D4C5-25EE59B0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20</a:t>
            </a:fld>
            <a:endParaRPr lang="en-US" dirty="0"/>
          </a:p>
        </p:txBody>
      </p:sp>
      <p:pic>
        <p:nvPicPr>
          <p:cNvPr id="5" name="Picture 4" descr="A comparison of a pie chart&#10;&#10;AI-generated content may be incorrect.">
            <a:extLst>
              <a:ext uri="{FF2B5EF4-FFF2-40B4-BE49-F238E27FC236}">
                <a16:creationId xmlns:a16="http://schemas.microsoft.com/office/drawing/2014/main" id="{D0658FFF-5F00-F737-BDCA-B484AC59B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016" y="22133"/>
            <a:ext cx="7528673" cy="3250266"/>
          </a:xfrm>
          <a:prstGeom prst="rect">
            <a:avLst/>
          </a:prstGeom>
        </p:spPr>
      </p:pic>
      <p:pic>
        <p:nvPicPr>
          <p:cNvPr id="7" name="Picture 6" descr="A comparison of pie charts&#10;&#10;AI-generated content may be incorrect.">
            <a:extLst>
              <a:ext uri="{FF2B5EF4-FFF2-40B4-BE49-F238E27FC236}">
                <a16:creationId xmlns:a16="http://schemas.microsoft.com/office/drawing/2014/main" id="{2490B2B5-8733-2ABC-CEA2-27996A3CB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" y="3424540"/>
            <a:ext cx="121634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63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E1224-CCEA-C335-AC0D-3099A2CF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0D83-7CB1-4ABE-BBF0-9078DAFB6BB1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94C60-09CC-1338-E575-1046055E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7895D-C91D-E06C-F512-C3BAB9E6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21</a:t>
            </a:fld>
            <a:endParaRPr lang="en-US" dirty="0"/>
          </a:p>
        </p:txBody>
      </p:sp>
      <p:pic>
        <p:nvPicPr>
          <p:cNvPr id="7" name="Picture 6" descr="No description has been provided for this image">
            <a:extLst>
              <a:ext uri="{FF2B5EF4-FFF2-40B4-BE49-F238E27FC236}">
                <a16:creationId xmlns:a16="http://schemas.microsoft.com/office/drawing/2014/main" id="{4508E8FD-B705-0890-6731-1E1920871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03" y="133047"/>
            <a:ext cx="9034594" cy="659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49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99394-9D29-C890-1C17-AAD9F163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84D3-4257-4B05-A71D-31A6343747A2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00BCA-47B9-DECA-BD86-E232E90D4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7A7B0-40DD-0E89-F013-4D8DB6A3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5F49D-14AE-4D9F-7DDF-B4DFBE093C9A}"/>
              </a:ext>
            </a:extLst>
          </p:cNvPr>
          <p:cNvSpPr txBox="1"/>
          <p:nvPr/>
        </p:nvSpPr>
        <p:spPr>
          <a:xfrm>
            <a:off x="2976975" y="725354"/>
            <a:ext cx="2040058" cy="2417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8FA5D-BBE9-0BAA-F94B-DA99639B3B3E}"/>
              </a:ext>
            </a:extLst>
          </p:cNvPr>
          <p:cNvSpPr txBox="1"/>
          <p:nvPr/>
        </p:nvSpPr>
        <p:spPr>
          <a:xfrm>
            <a:off x="4389465" y="1022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 dirty="0">
                <a:latin typeface="Times New Roman"/>
                <a:cs typeface="Times New Roman"/>
              </a:rPr>
              <a:t>Applicat</a:t>
            </a:r>
            <a:r>
              <a:rPr lang="en-GB" sz="3200" b="1">
                <a:latin typeface="Times New Roman"/>
                <a:cs typeface="Times New Roman"/>
              </a:rPr>
              <a:t>ions</a:t>
            </a:r>
            <a:endParaRPr lang="en-GB" sz="3200" b="1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0C2BF-24B7-9962-A0F9-47529A178B4A}"/>
              </a:ext>
            </a:extLst>
          </p:cNvPr>
          <p:cNvSpPr txBox="1"/>
          <p:nvPr/>
        </p:nvSpPr>
        <p:spPr>
          <a:xfrm>
            <a:off x="682765" y="1217972"/>
            <a:ext cx="8235793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GB" sz="2400">
                <a:latin typeface="Times New Roman"/>
                <a:cs typeface="Times New Roman"/>
              </a:rPr>
              <a:t>Telecom industry for customer retention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GB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GB" sz="2400">
                <a:latin typeface="Times New Roman"/>
                <a:cs typeface="Times New Roman"/>
              </a:rPr>
              <a:t>Banking and financial services for risk analysis</a:t>
            </a:r>
            <a:endParaRPr lang="en-GB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GB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GB" sz="2400">
                <a:latin typeface="Times New Roman"/>
                <a:cs typeface="Times New Roman"/>
              </a:rPr>
              <a:t>Subscription-based platforms (OTT, SaaS)</a:t>
            </a:r>
            <a:endParaRPr lang="en-GB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GB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GB" sz="2400" dirty="0">
                <a:latin typeface="Times New Roman"/>
                <a:cs typeface="Times New Roman"/>
              </a:rPr>
              <a:t>E-commerce customer </a:t>
            </a:r>
            <a:r>
              <a:rPr lang="en-GB" sz="2400" dirty="0" err="1">
                <a:latin typeface="Times New Roman"/>
                <a:cs typeface="Times New Roman"/>
              </a:rPr>
              <a:t>behavior</a:t>
            </a:r>
            <a:r>
              <a:rPr lang="en-GB" sz="2400" dirty="0">
                <a:latin typeface="Times New Roman"/>
                <a:cs typeface="Times New Roman"/>
              </a:rPr>
              <a:t> analysis</a:t>
            </a:r>
          </a:p>
          <a:p>
            <a:pPr marL="342900" indent="-342900">
              <a:buFont typeface="Wingdings"/>
              <a:buChar char="Ø"/>
            </a:pPr>
            <a:endParaRPr lang="en-GB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GB" sz="2400">
                <a:latin typeface="Times New Roman"/>
                <a:cs typeface="Times New Roman"/>
              </a:rPr>
              <a:t>CRM systems for business intelligence</a:t>
            </a:r>
            <a:endParaRPr lang="en-GB" sz="2400" dirty="0">
              <a:latin typeface="Times New Roman"/>
              <a:cs typeface="Times New Roman"/>
            </a:endParaRPr>
          </a:p>
        </p:txBody>
      </p:sp>
      <p:pic>
        <p:nvPicPr>
          <p:cNvPr id="6" name="Picture 5" descr="Diagram of a customer forecasting system&#10;&#10;AI-generated content may be incorrect.">
            <a:extLst>
              <a:ext uri="{FF2B5EF4-FFF2-40B4-BE49-F238E27FC236}">
                <a16:creationId xmlns:a16="http://schemas.microsoft.com/office/drawing/2014/main" id="{B5E6462C-8E5B-996A-124F-515F85E49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262" y="846667"/>
            <a:ext cx="5049761" cy="439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8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E8995-EC10-1F1F-76FC-D3E82075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E8609-4DEE-4141-EB40-C7BB9637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21ED-769D-4247-B852-12C260B24943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F1198-D0C8-2090-59CB-CE01E1A8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ED5A9-DE8F-9449-A75C-0EAAA452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FD03D-DFEB-8F46-18CF-A07BC5230F93}"/>
              </a:ext>
            </a:extLst>
          </p:cNvPr>
          <p:cNvSpPr txBox="1"/>
          <p:nvPr/>
        </p:nvSpPr>
        <p:spPr>
          <a:xfrm>
            <a:off x="3572147" y="-29"/>
            <a:ext cx="504242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latin typeface="Times New Roman"/>
                <a:cs typeface="Times New Roman"/>
              </a:rPr>
              <a:t>Conclusion</a:t>
            </a:r>
            <a:endParaRPr lang="en-GB" sz="4000" b="1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40713-BCED-8749-E2F4-DC0939E736E2}"/>
              </a:ext>
            </a:extLst>
          </p:cNvPr>
          <p:cNvSpPr txBox="1"/>
          <p:nvPr/>
        </p:nvSpPr>
        <p:spPr>
          <a:xfrm>
            <a:off x="1128147" y="1086171"/>
            <a:ext cx="9341636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GB" sz="2400" b="1" dirty="0">
                <a:latin typeface="Times New Roman"/>
                <a:ea typeface="+mn-lt"/>
                <a:cs typeface="Times New Roman"/>
              </a:rPr>
              <a:t>customer churn prediction system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 successfully demonstrates the </a:t>
            </a:r>
            <a:r>
              <a:rPr lang="en-GB" sz="2400" i="1" dirty="0">
                <a:latin typeface="Times New Roman"/>
                <a:ea typeface="+mn-lt"/>
                <a:cs typeface="Times New Roman"/>
              </a:rPr>
              <a:t>how machine learning can be leveraged to identify potential churn customers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 with high efficiency. </a:t>
            </a:r>
          </a:p>
          <a:p>
            <a:pPr marL="285750" indent="-285750">
              <a:buFont typeface="Wingdings"/>
              <a:buChar char="v"/>
            </a:pPr>
            <a:endParaRPr lang="en-GB" sz="24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v"/>
            </a:pPr>
            <a:r>
              <a:rPr lang="en-GB" sz="2400" b="1" dirty="0">
                <a:latin typeface="Times New Roman"/>
                <a:ea typeface="+mn-lt"/>
                <a:cs typeface="Times New Roman"/>
              </a:rPr>
              <a:t> </a:t>
            </a:r>
            <a:r>
              <a:rPr lang="en-GB" sz="2400">
                <a:latin typeface="Times New Roman"/>
                <a:ea typeface="+mn-lt"/>
                <a:cs typeface="Times New Roman"/>
              </a:rPr>
              <a:t>Here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 Ensemble based stacking approach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 provided more robust and stable predictions compared to individual models. </a:t>
            </a:r>
            <a:endParaRPr lang="en-GB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v"/>
            </a:pPr>
            <a:endParaRPr lang="en-GB" sz="24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v"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Key business insights show that factors such as </a:t>
            </a:r>
            <a:r>
              <a:rPr lang="en-GB" sz="2400" b="1" dirty="0">
                <a:latin typeface="Times New Roman"/>
                <a:ea typeface="+mn-lt"/>
                <a:cs typeface="Times New Roman"/>
              </a:rPr>
              <a:t>recharge type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, </a:t>
            </a:r>
            <a:r>
              <a:rPr lang="en-GB" sz="2400" b="1" dirty="0">
                <a:latin typeface="Times New Roman"/>
                <a:ea typeface="+mn-lt"/>
                <a:cs typeface="Times New Roman"/>
              </a:rPr>
              <a:t>contract type, tenure, and payment method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 strongly influence customer churn behaviour in </a:t>
            </a:r>
            <a:r>
              <a:rPr lang="en-GB" sz="2400" i="1" dirty="0">
                <a:latin typeface="Times New Roman"/>
                <a:ea typeface="+mn-lt"/>
                <a:cs typeface="Times New Roman"/>
              </a:rPr>
              <a:t>initial stage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 of relationship building.</a:t>
            </a:r>
          </a:p>
          <a:p>
            <a:pPr marL="285750" indent="-285750">
              <a:buFont typeface="Wingdings"/>
              <a:buChar char="v"/>
            </a:pPr>
            <a:endParaRPr lang="en-GB" sz="24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v"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 So, Businesses have to take decision on</a:t>
            </a:r>
            <a:r>
              <a:rPr lang="en-GB" sz="2400" i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GB" sz="2400" b="1" i="1" dirty="0">
                <a:latin typeface="Times New Roman"/>
                <a:ea typeface="+mn-lt"/>
                <a:cs typeface="Times New Roman"/>
              </a:rPr>
              <a:t>retention strategies, reducing revenue loss and improving customer satisfaction</a:t>
            </a:r>
            <a:r>
              <a:rPr lang="en-GB" sz="2400" b="1" dirty="0">
                <a:latin typeface="Times New Roman"/>
                <a:ea typeface="+mn-lt"/>
                <a:cs typeface="Times New Roman"/>
              </a:rPr>
              <a:t>.</a:t>
            </a:r>
            <a:endParaRPr lang="en-GB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19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CF251-3451-6E52-E5C4-BAF9AF3F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F6BFD-5B3B-7639-2F30-E7495CA5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FDF7A-447B-4283-BFE6-049EA816D628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8309A-E195-D137-4EE2-3D2EED53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EB325-1403-7622-95B6-347D40CC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335AA-A2CC-4D82-74DD-D7C8F669674B}"/>
              </a:ext>
            </a:extLst>
          </p:cNvPr>
          <p:cNvSpPr txBox="1"/>
          <p:nvPr/>
        </p:nvSpPr>
        <p:spPr>
          <a:xfrm>
            <a:off x="3415209" y="2895"/>
            <a:ext cx="453346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latin typeface="Times New Roman"/>
                <a:cs typeface="Times New Roman"/>
              </a:rPr>
              <a:t>References</a:t>
            </a:r>
            <a:endParaRPr lang="en-US" sz="4000" b="1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134AA-AB2E-205B-EB65-C08A4CABB14B}"/>
              </a:ext>
            </a:extLst>
          </p:cNvPr>
          <p:cNvSpPr txBox="1"/>
          <p:nvPr/>
        </p:nvSpPr>
        <p:spPr>
          <a:xfrm>
            <a:off x="762000" y="1183493"/>
            <a:ext cx="11429998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cs typeface="Times New Roman"/>
              </a:rPr>
              <a:t>Mohammad Ridwan Ismail, Mohd Khalid Awang, M. Nordin A. Rahman, Makhtar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 i="1" dirty="0">
                <a:latin typeface="Times New Roman"/>
                <a:cs typeface="Times New Roman"/>
              </a:rPr>
              <a:t>“A Multi-Layer Perceptron Approach for Customer Churn Prediction”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 dirty="0">
                <a:latin typeface="Times New Roman"/>
                <a:cs typeface="Times New Roman"/>
              </a:rPr>
              <a:t>International Journal of Multimedia and Ubiquitous Engineering, Vol.10, No.7, 2015. </a:t>
            </a:r>
            <a:endParaRPr lang="en-US"/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cs typeface="Times New Roman"/>
              </a:rPr>
              <a:t>Abinash Mishra, U. Srinivasulu Reddy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 i="1" dirty="0">
                <a:latin typeface="Times New Roman"/>
                <a:cs typeface="Times New Roman"/>
              </a:rPr>
              <a:t>“A Comparative Study of Customer Churn Prediction in Telecom Industry Using Ensemble Based Classifiers”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 dirty="0">
                <a:latin typeface="Times New Roman"/>
                <a:cs typeface="Times New Roman"/>
              </a:rPr>
              <a:t>International Conference on Inventive Computing and Informatics (ICICI), IEEE, 2017. </a:t>
            </a: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cs typeface="Times New Roman"/>
              </a:rPr>
              <a:t>Michael C. Mozer et al.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 i="1" dirty="0">
                <a:latin typeface="Times New Roman"/>
                <a:cs typeface="Times New Roman"/>
              </a:rPr>
              <a:t>“Predicting Subscriber Dissatisfaction and Improving Retention in the Wireless Telecommunications Industry”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 dirty="0">
                <a:latin typeface="Times New Roman"/>
                <a:cs typeface="Times New Roman"/>
              </a:rPr>
              <a:t>IEEE Transactions on Neural Networks, 2000. </a:t>
            </a: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latin typeface="Times New Roman"/>
                <a:cs typeface="Times New Roman"/>
              </a:rPr>
              <a:t>Ning Lu et al.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 i="1" dirty="0">
                <a:latin typeface="Times New Roman"/>
                <a:cs typeface="Times New Roman"/>
              </a:rPr>
              <a:t>“Customer Churn Prediction in Telecom Industry using Boosting”</a:t>
            </a:r>
            <a:br>
              <a:rPr lang="en-US" sz="2200" dirty="0">
                <a:latin typeface="Times New Roman"/>
                <a:cs typeface="Times New Roman"/>
              </a:rPr>
            </a:br>
            <a:r>
              <a:rPr lang="en-US" sz="2200">
                <a:latin typeface="Times New Roman"/>
                <a:cs typeface="Times New Roman"/>
              </a:rPr>
              <a:t>IEEE Transactions on Industrial Informatics, 2014.</a:t>
            </a:r>
          </a:p>
        </p:txBody>
      </p:sp>
    </p:spTree>
    <p:extLst>
      <p:ext uri="{BB962C8B-B14F-4D97-AF65-F5344CB8AC3E}">
        <p14:creationId xmlns:p14="http://schemas.microsoft.com/office/powerpoint/2010/main" val="293653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EF70F-8B88-BF71-EB8B-DE90DB77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CFA-FFA9-40BE-8E2C-BEDBFD01FA75}" type="datetime1"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A131E6-EE7A-B8E2-F4A4-7E6909E3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BA588-88E2-AC9C-3E3A-BE2E5F37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14C64-8D25-2E11-729F-5BF9E9A7CA5E}"/>
              </a:ext>
            </a:extLst>
          </p:cNvPr>
          <p:cNvSpPr txBox="1"/>
          <p:nvPr/>
        </p:nvSpPr>
        <p:spPr>
          <a:xfrm>
            <a:off x="2083309" y="1992678"/>
            <a:ext cx="802423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8800" dirty="0">
                <a:latin typeface="Times New Roman"/>
                <a:cs typeface="Times New Roman"/>
              </a:rPr>
              <a:t>Thank You</a:t>
            </a:r>
            <a:endParaRPr lang="en-US" sz="8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32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BohoVogueVTI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1280</cp:revision>
  <dcterms:created xsi:type="dcterms:W3CDTF">2026-02-19T12:59:28Z</dcterms:created>
  <dcterms:modified xsi:type="dcterms:W3CDTF">2026-04-24T16:33:24Z</dcterms:modified>
</cp:coreProperties>
</file>